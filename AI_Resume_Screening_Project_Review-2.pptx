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0eb12d0-d64b-9372-a914-d32d73541bc3}">
          <p14:sldIdLst>
            <p14:sldId id="256"/>
            <p14:sldId id="257"/>
            <p14:sldId id="258"/>
          </p14:sldIdLst>
        </p14:section>
        <p14:section name="Training" id="{e7a41d00-e352-5298-9980-3fe5c0277520}">
          <p14:sldIdLst>
            <p14:sldId id="259"/>
            <p14:sldId id="260"/>
          </p14:sldIdLst>
        </p14:section>
        <p14:section name="Project" id="{a2a5f917-359e-1a8f-8039-3af4f8319d20}">
          <p14:sldIdLst>
            <p14:sldId id="261"/>
            <p14:sldId id="262"/>
            <p14:sldId id="263"/>
          </p14:sldIdLst>
        </p14:section>
        <p14:section name="Analysis" id="{5d872ee4-c76b-89ad-0a0c-6c301772c1ef}">
          <p14:sldIdLst>
            <p14:sldId id="264"/>
          </p14:sldIdLst>
        </p14:section>
        <p14:section name="Design" id="{a925870d-b30b-117d-1da3-364da83c205b}">
          <p14:sldIdLst>
            <p14:sldId id="265"/>
            <p14:sldId id="266"/>
            <p14:sldId id="267"/>
          </p14:sldIdLst>
        </p14:section>
        <p14:section name="AI" id="{7da130ac-fc33-9f1a-6481-a3de69a5d8e8}">
          <p14:sldIdLst>
            <p14:sldId id="268"/>
            <p14:sldId id="269"/>
          </p14:sldIdLst>
        </p14:section>
        <p14:section name="Build" id="{0fd1d542-ae0d-eed8-95f2-969e6bcd12c8}">
          <p14:sldIdLst>
            <p14:sldId id="270"/>
            <p14:sldId id="271"/>
          </p14:sldIdLst>
        </p14:section>
        <p14:section name="Results" id="{a5af4ef5-1f55-f791-9d5c-2d916aae1504}">
          <p14:sldIdLst>
            <p14:sldId id="272"/>
            <p14:sldId id="273"/>
            <p14:sldId id="274"/>
          </p14:sldIdLst>
        </p14:section>
        <p14:section name="Close" id="{5b0c7f6b-5b88-1f1b-9018-a0c56998ee59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+mn-lt"/>
              </a:rPr>
              <a:t>Default weights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FE0"/>
              </a:solidFill>
              <a:effectLst/>
            </c:spPr>
          </c:dPt>
          <c:dPt>
            <c:idx val="1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Skill match</c:v>
                </c:pt>
                <c:pt idx="1">
                  <c:v>Semantic similarity</c:v>
                </c:pt>
                <c:pt idx="2">
                  <c:v>Experience</c:v>
                </c:pt>
                <c:pt idx="3">
                  <c:v>Education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internship dates, the company and the project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96112"/>
            <a:ext cx="822960" cy="411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AI-Based Resume Screening System · Internship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0" y="4828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Manobala T N · 810023205042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9144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AI-BASED RESUME SCREENING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Final Year Internship Review · IT3711 Summer Internship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Manobala T N · 810023205042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B.Tech Information Technology · University College of Engineering, BIT Campus, Anna University, Tiruchirappalli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Industry partner: Fantasy Solution, Tiruchirappalli · 01 June 2026 – 30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Organisation &amp; internship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44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Training programme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212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 &amp; proposed system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212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Requirements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81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System design &amp; architecture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81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screening pipeline &amp; scoring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Implementation &amp; testing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9502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Results, learning &amp; conclusion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&amp; Internship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About Fantasy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 solution and service provider serving businesses, institutions and individuals. Brand commitment: “Beyond Technology”.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Services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Custom application development and maintenance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Web design, development and hosting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Android apps, ERP, testing and consulting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 training and student project guidance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Expertise: .NET, PHP, Java, Python/R analytics, MATLAB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84632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Internship at a glance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Duration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01 Jun – 30 Jun 2026 (30 days)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1214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Joint supervisor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1214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Mr. Pragatheesh, Software Developer (MCA)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59689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Project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968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AI-Based Resume Screening System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723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Location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0723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Melapudur, Tiruchirappalli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5478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Student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47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Manobala T N · 810023205042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023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Course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4023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IT3711 – Summer Internship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Training Programme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645920" cy="96012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Orientation &amp; Java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Days 1–7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39696" y="1188720"/>
            <a:ext cx="1645920" cy="96012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31136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Spring Boot, REST &amp; DB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Days 8–13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1188720"/>
            <a:ext cx="1645920" cy="96012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13632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Python, NLP &amp; ML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Days 14–18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04688" y="1188720"/>
            <a:ext cx="1645920" cy="96012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System build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596128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Days 19–26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87184" y="1188720"/>
            <a:ext cx="1645920" cy="96012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78624" y="1261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Testing &amp; deployment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78624" y="1810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Days 27–30</a:t>
            </a:r>
            <a:endParaRPr lang="en-US" sz="1050" dirty="0"/>
          </a:p>
        </p:txBody>
      </p:sp>
      <p:sp>
        <p:nvSpPr>
          <p:cNvPr id="18" name="card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Java &amp; OOP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807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Collections, generics, file I/O, multithreading, JDBC, exception handling</a:t>
            </a:r>
            <a:endParaRPr lang="en-US" sz="1150" dirty="0"/>
          </a:p>
        </p:txBody>
      </p:sp>
      <p:sp>
        <p:nvSpPr>
          <p:cNvPr id="21" name="card"/>
          <p:cNvSpPr/>
          <p:nvPr/>
        </p:nvSpPr>
        <p:spPr>
          <a:xfrm>
            <a:off x="4663440" y="24231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Enterprise Java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807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Spring Boot, Hibernate/JPA, Spring Security, REST, Servlets &amp; JSP</a:t>
            </a:r>
            <a:endParaRPr lang="en-US" sz="1150" dirty="0"/>
          </a:p>
        </p:txBody>
      </p:sp>
      <p:sp>
        <p:nvSpPr>
          <p:cNvPr id="24" name="card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toolkit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950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Text preprocessing, spaCy NER, TF-IDF, Sentence-BERT, scikit-learn, FastAPI</a:t>
            </a:r>
            <a:endParaRPr lang="en-US" sz="1150" dirty="0"/>
          </a:p>
        </p:txBody>
      </p:sp>
      <p:sp>
        <p:nvSpPr>
          <p:cNvPr id="27" name="card"/>
          <p:cNvSpPr/>
          <p:nvPr/>
        </p:nvSpPr>
        <p:spPr>
          <a:xfrm>
            <a:off x="4663440" y="35661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Engineering practice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9502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JUnit, PyTest, Postman, Git, Apache Tomcat; Responsible AI session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Their Role in the Project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What was learnt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Role in the system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Core Java, OOP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Classes, inheritance, interfaces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Domain model: JobOpening, Candidate, Resume, ScreeningResult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Collections, Generics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Type-safe data structures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Skill sets, ranking lists, report data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Spring Boot, REST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Dependency injection, REST services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Controllers, services, configuration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Hibernate, JPA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Object-relational mapping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Entities mapped to MySQL tables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Spring Security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Authentication, authorisation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Role-based access: admin, recruiter, hiring manager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Python, spaCy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Text processing, entity extraction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Skill, education, experience extraction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TF-IDF, Sentence-BERT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Vectorisation, embeddings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Semantic similarity of resume vs job description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FastAPI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Model serving over REST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NLP microservice called by the Java app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JUnit, PyTest, Git, Tomcat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Testing, versioning, deployment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Rule verification, source control, hosting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Provide a secure, fast and transparent web-based system that reads resumes, scores them against a job opening using NLP and produces an explainable ranking that a recruiter can review and act 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Limitations of the existing (manual) process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57200" y="2514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Slow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98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Minutes per resume; does not scale to hundreds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3246120" y="2514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Inconsistent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98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Different recruiters, different criteria; fatigue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035040" y="2514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Keyword-only filters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898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Miss synonyms (JS vs JavaScript); reward keyword stuffing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45720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No explanation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recorded reason for shortlist or rejection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324612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Scattered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Resumes in e-mail and folders; hard to search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603504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Privacy risk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Personal data shared without access control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143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Create job opening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572768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39696" y="11430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2848" y="1143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Upload resumes (PDF / DOCX)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94176" y="1572768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22192" y="11430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95344" y="1143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Extract skills, education, experience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76672" y="1572768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04688" y="11430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143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Weighted score 0–100 &amp; rank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9168" y="1572768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87184" y="11430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0336" y="114300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Recruiter decides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060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Accept PDF and DOCX resumes singly or in batches and extract text reliably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Identify skills, education and total experience from unstructured text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Transparent, configurable scoring combining skill match and semantic similarity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Rank candidates and explain every score with matched and missing skills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Keep name, gender, age and photograph out of scoring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Secure role-based access and screening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Study &amp; Scope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Technical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Mature open technologies; skills gained in training</a:t>
            </a:r>
            <a:endParaRPr lang="en-US" sz="1150" dirty="0"/>
          </a:p>
        </p:txBody>
      </p:sp>
      <p:sp>
        <p:nvSpPr>
          <p:cNvPr id="6" name="card"/>
          <p:cNvSpPr/>
          <p:nvPr/>
        </p:nvSpPr>
        <p:spPr>
          <a:xfrm>
            <a:off x="2788920" y="114300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Economic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600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Open-source stack; pre-trained models, no paid APIs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57200" y="283464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Operational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91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Familiar form-and-table UI; minimal training needed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2788920" y="2834640"/>
            <a:ext cx="21945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Schedule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291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Module-by-module build on pre-trained NLP; fits 4 weeks</a:t>
            </a:r>
            <a:endParaRPr lang="en-US" sz="1150" dirty="0"/>
          </a:p>
        </p:txBody>
      </p:sp>
      <p:sp>
        <p:nvSpPr>
          <p:cNvPr id="15" name="card"/>
          <p:cNvSpPr/>
          <p:nvPr/>
        </p:nvSpPr>
        <p:spPr>
          <a:xfrm>
            <a:off x="5212080" y="1143000"/>
            <a:ext cx="347472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496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 scope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5544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Job openings, resume upload, parsing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Scoring, ranking, explanation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Recruiter decisions and reports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Text-based English resumes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Out of scope (future)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17296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OCR for scanned resumes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Multilingual resumes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Interview scheduling, job-portal integration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Functional (FR-01 to FR-10)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Login / logout for all roles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Manage users, roles, skill dictionary (Admin)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Create, edit, close job openings with weights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Upload PDF/DOCX; reject invalid files with reason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Extract skills, education, experience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Weighted match score and band per resume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Rank, sort and filter candidates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Explain score: matched / missing skills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Shortlist, hold, reject with notes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Reports and exports (CSV / PDF)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Non-functional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Security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Salted hashes, role-based authorisation, file validation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Privacy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Files outside web root; retention-based deletion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Fairness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Personal attributes excluded; every score explained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resume scored in seconds; background batches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566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Bad file never stops the batch; transactional saves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Maintainability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Layered code; separate NLP service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Spring Security · role-based access on every request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7830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Presentation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HTML · CSS · JS Thymeleaf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23317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2139696" y="17830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12848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Controllers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Spring MVC REST endpoints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02736" y="23317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3822192" y="17830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95344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Service layer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Screening rules &amp; scoring engine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85232" y="23317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5504688" y="17830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Data access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Hibernate · JPA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7728" y="2331720"/>
            <a:ext cx="21945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7187184" y="1783080"/>
            <a:ext cx="1463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60336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Database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MySQL 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88036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card"/>
          <p:cNvSpPr/>
          <p:nvPr/>
        </p:nvSpPr>
        <p:spPr>
          <a:xfrm>
            <a:off x="1828800" y="3337560"/>
            <a:ext cx="22860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20240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Resume parser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Apache Tika extracts text from PDF / DOCX</a:t>
            </a:r>
            <a:endParaRPr lang="en-US" sz="1050" dirty="0"/>
          </a:p>
        </p:txBody>
      </p:sp>
      <p:sp>
        <p:nvSpPr>
          <p:cNvPr id="28" name="card"/>
          <p:cNvSpPr/>
          <p:nvPr/>
        </p:nvSpPr>
        <p:spPr>
          <a:xfrm>
            <a:off x="4937760" y="3337560"/>
            <a:ext cx="301752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NLP microservice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Python · FastAPI · spaCy · Sentence-BERT, called over REST / 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Users, Use Cases &amp; Data Flow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Administrator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Manage users, roles, skill dictionary; audit and system reports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324612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Recruiter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08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 job openings, upload resumes, view ranking, record decisions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6035040" y="1097280"/>
            <a:ext cx="2651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Hiring Manager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08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Review ranked list and explanations; shortlist / hold / reject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Level-1 data 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8872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1.0 Authenticate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92808" y="2971800"/>
            <a:ext cx="118872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56816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2.0 Manage job openings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82696" y="2971800"/>
            <a:ext cx="118872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46704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3.0 Parse resumes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2971800"/>
            <a:ext cx="118872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4.0 Score &amp; rank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62472" y="2971800"/>
            <a:ext cx="118872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0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5.0 Review &amp; decide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2971800"/>
            <a:ext cx="118872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16368" y="297180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6.0 Reports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Data stores:  D1 Users · D2 Job openings · D3 Resumes · D4 Results · D5 Skill dictionary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Design: Entity-Relationship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34340" y="109728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" y="109728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USERS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7492" y="141732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user_id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username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password_hash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role ·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83180" y="109728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3180" y="109728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89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JOB_OPENING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56332" y="141732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job_id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created_by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title · description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min_experience · education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4 weights · status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2020" y="109728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2020" y="109728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77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JOB_SKILL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05172" y="141732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job_skill_id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job_id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skill_id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type: required/preferred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80860" y="109728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80860" y="109728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658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SKILL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54012" y="141732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skill_id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name · category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synonyms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83180" y="288036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83180" y="2880360"/>
            <a:ext cx="18288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2890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SCREENING_RESULT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656332" y="32004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result_id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job_id · resume_id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4 component scores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final_score · band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matched · missing skills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decision · notes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2020" y="288036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2020" y="288036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774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RESUME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05172" y="32004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resume_id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candidate_id (FK)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file_name · uploaded_on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parse_status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extracted_text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80860" y="2880360"/>
            <a:ext cx="182880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80860" y="2880360"/>
            <a:ext cx="18288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265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CANDIDATE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54012" y="32004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candidate_id (PK)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name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email · phone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chemeClr val="tx1"/>
                </a:solidFill>
              </a:rPr>
              <a:t>total_experience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63140" y="160020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11980" y="160020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60820" y="160020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97580" y="2468880"/>
            <a:ext cx="0" cy="4114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11980" y="356616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0820" y="3566160"/>
            <a:ext cx="3200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" y="4389120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A recruiter creates many openings · each opening lists many skills · a candidate has many resumes · each resume can be screened against many openings. (job_id, resume_id) is unique.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Screening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645920" cy="64008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Validate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19202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 and size checked by content (PDF/DOCX, ≤ 5 MB)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1143000"/>
            <a:ext cx="1645920" cy="64008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12848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Extract text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139696" y="19202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31136" y="2011680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Apache Tika reads the raw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22192" y="1143000"/>
            <a:ext cx="1645920" cy="64008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95344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Understand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3822192" y="19202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2011680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 text, split sections, spaCy phrase matching for skills, degree patterns, date ranges for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04688" y="1143000"/>
            <a:ext cx="1645920" cy="64008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Anonymise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5504688" y="19202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96128" y="2011680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Name, gender, age, photo, address removed before scoring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87184" y="1143000"/>
            <a:ext cx="1645920" cy="64008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0336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Score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187184" y="192024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78624" y="2011680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Four component scores combined into a weighted match score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Why hybrid?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Exact skill matching is transparent but misses paraphrases; embeddings capture meaning but are harder to explain. Together the score is robust and defensible.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Scoring Model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457200" y="384048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840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Score = 100 × (0.40·Skill + 0.30·Semantic + 0.20·Experience + 0.10·Education)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Skill match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143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80% required + 20% preferred skills found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7099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Semantic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1709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Cosine similarity of Sentence-BERT embeddings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2276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Experience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2768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Years ÷ minimum required, capped at 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843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Education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Full if level met, half if one below, else 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Match bands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89120" y="388620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9120" y="3886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≥ 75 Recommended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88620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06440" y="3886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55–74 Review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23760" y="3886200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3886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&lt; 55 Low match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389120" y="4434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Weights are configurable per job and must total 100%.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Java web app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Spring Boot, Spring MVC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Hibernate / JPA, MySQL 8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Spring Security, Apache Tika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Thymeleaf, Maven, Tomcat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57200" y="2834640"/>
            <a:ext cx="26517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Python NLP service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FastAPI endpoints: /extract, /similarity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spaCy, scikit-learn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sentence-transformers (all-MiniLM-L6-v2)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Skill dictionary with synonyms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5394960" cy="214884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887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ScreeningResult score(JobOpening job, ParsedResume cv)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skill = skillScore(job, cv);          // 0..1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sem = nlpClient.similarity(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job.getDescription(), cv.getText());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exp = Math.min(1.0, cv.getYears()/job.getMinYears());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edu = educationScore(job, cv);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total = 100*(wSkill*skill + wSem*sem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+ wExp*exp + wEdu*edu);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ScreeningResult(job, cv, round(total), bandFor(total));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Security &amp; privacy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675888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Salted password hashes, role-based URLs, session expiry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Content-based file validation; files stored outside web root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Parameterised queries (JPA); NLP service not exposed to the internet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Strategy &amp; Results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Unit (JUnit, PyTest)</a:t>
            </a:r>
            <a:endParaRPr lang="en-US" sz="1150" dirty="0"/>
          </a:p>
        </p:txBody>
      </p:sp>
      <p:sp>
        <p:nvSpPr>
          <p:cNvPr id="5" name="card"/>
          <p:cNvSpPr/>
          <p:nvPr/>
        </p:nvSpPr>
        <p:spPr>
          <a:xfrm>
            <a:off x="3246120" y="109728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37560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Integration (Spring Boot, Postman)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6035040" y="109728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097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System workflows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57200" y="164592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45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Security checks</a:t>
            </a:r>
            <a:endParaRPr lang="en-US" sz="1150" dirty="0"/>
          </a:p>
        </p:txBody>
      </p:sp>
      <p:sp>
        <p:nvSpPr>
          <p:cNvPr id="11" name="card"/>
          <p:cNvSpPr/>
          <p:nvPr/>
        </p:nvSpPr>
        <p:spPr>
          <a:xfrm>
            <a:off x="3246120" y="164592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645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Ranking review with mentor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6035040" y="1645920"/>
            <a:ext cx="265176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645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User acceptance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4206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TC-02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Wrong password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Error message; access denied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TC-04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Weights total 90%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Validation error; opening not saved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TC-06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.exe file or file &gt; 5 MB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Rejected with reason; batch continues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TC-07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Resume lists Java, Spring Boot, MySQL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All three skills identified and normalised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TC-09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 required skills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Low match band; missing skills listed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TC-10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Hiring manager opens admin URL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Access denied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Defects found and fixed: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jumbled two-column text, skill variants (JS / NodeJS), “Present” date ranges, menus shown to wrong role. Ranking quality checked with precision@N against a manual shortlist.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Achieved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Open positions</a:t>
            </a:r>
            <a:endParaRPr lang="en-US" sz="1150" dirty="0"/>
          </a:p>
        </p:txBody>
      </p:sp>
      <p:sp>
        <p:nvSpPr>
          <p:cNvPr id="6" name="card"/>
          <p:cNvSpPr/>
          <p:nvPr/>
        </p:nvSpPr>
        <p:spPr>
          <a:xfrm>
            <a:off x="2560320" y="109728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Resumes screened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4663440" y="109728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Shortlisted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6766560" y="1097280"/>
            <a:ext cx="1965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43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Average score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Outcome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Resume intake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PDF/DOCX single or batch, validated, processed in background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Extraction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Skills, education, experience from unstructured text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Matching &amp; ranking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Weighted score from four components; ranked list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Explainability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Component scores plus matched and missing skills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Fair &amp; secure use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Attributes excluded; role-based access; recruiter decides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Summary, skill demand, shortlist and audit reports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Figures shown are from sample data used to illustrate the application. All 10 functional requirements are covered by the screens.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 &amp; Challenges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I gained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Object-oriented design and enterprise Java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 apps and REST with Spring Boot, secured with Spring Security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Text processing: spaCy, TF-IDF, sentence embeddings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Combining a Java app with a Python microservice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Testing, Git and deployment on Tomcat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Teamwork, documentation, code review, ethics in AI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097280"/>
          <a:ext cx="4160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Challenge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Solution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Learning Java and NLP quickly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Structured plan; practise each concept at once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Varied resume layouts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Tika, section detection, flag unreadable files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Skills in many forms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Synonym dictionary, normalise before matching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Free-text date ranges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Parse month-year and “Present”; unit tests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Bias in scoring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Strip personal attributes; human decides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Java ↔ Python integration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Agreed JSON contract; module-wise testing</a:t>
                      </a:r>
                      <a:endParaRPr lang="en-US" sz="10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Built a complete, database-backed AI-enabled web application in 30 days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Replaces slow, inconsistent first-pass screening with an explained, ranked shortlist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Final decision always stays with the recruiter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Gained professional habits: planning, communication, feedback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OCR for scanned resumes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1109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819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Learning from recruiter feedback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31343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2221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Fairness monitoring and bias audits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1576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Multilingual resumes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11810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3026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portal / ATS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Candidate e-mails and interview scheduling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922776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831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Interview questions from missing skills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32511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Docker-based cloud deployment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91440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Questions &amp; feedback welcome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Manobala T N · 810023205042 · Fantasy Solution, Tiruchirappalli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ship Review">
  <a:themeElements>
    <a:clrScheme name="Internship Review">
      <a:dk1>
        <a:srgbClr val="1F2937"/>
      </a:dk1>
      <a:lt1>
        <a:srgbClr val="FFFFFF"/>
      </a:lt1>
      <a:dk2>
        <a:srgbClr val="0B2545"/>
      </a:dk2>
      <a:lt2>
        <a:srgbClr val="EEF3FA"/>
      </a:lt2>
      <a:accent1>
        <a:srgbClr val="1A6FE0"/>
      </a:accent1>
      <a:accent2>
        <a:srgbClr val="16A34A"/>
      </a:accent2>
      <a:accent3>
        <a:srgbClr val="F59E0B"/>
      </a:accent3>
      <a:accent4>
        <a:srgbClr val="DC2626"/>
      </a:accent4>
      <a:accent5>
        <a:srgbClr val="0EA5E9"/>
      </a:accent5>
      <a:accent6>
        <a:srgbClr val="6B7280"/>
      </a:accent6>
      <a:hlink>
        <a:srgbClr val="1A6FE0"/>
      </a:hlink>
      <a:folHlink>
        <a:srgbClr val="6B7280"/>
      </a:folHlink>
    </a:clrScheme>
    <a:fontScheme name="Internship Revie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Resume Screening System</dc:title>
  <dc:subject>PptxGenJS Presentation</dc:subject>
  <dc:creator>Manobala T N</dc:creator>
  <cp:lastModifiedBy>Manobala T N</cp:lastModifiedBy>
  <cp:revision>1</cp:revision>
  <dcterms:created xsi:type="dcterms:W3CDTF">2026-10-21T14:38:01Z</dcterms:created>
  <dcterms:modified xsi:type="dcterms:W3CDTF">2026-10-21T14:38:01Z</dcterms:modified>
</cp:coreProperties>
</file>